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2B13C"/>
                </a:solidFill>
                <a:latin typeface="Helvetica Neue"/>
              </a:rPr>
              <a:t>HACKDAY 1.0 · TECH FOR A BETTER TOMORROW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05840"/>
            <a:ext cx="111556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E9EFF5"/>
                </a:solidFill>
                <a:latin typeface="Helvetica Neue"/>
              </a:rPr>
              <a:t>India's heat alerts measure temperature.</a:t>
            </a:r>
          </a:p>
          <a:p>
            <a:pPr algn="l">
              <a:spcAft>
                <a:spcPts val="600"/>
              </a:spcAft>
            </a:pPr>
            <a:r>
              <a:rPr sz="3800" b="1">
                <a:solidFill>
                  <a:srgbClr val="E9EFF5"/>
                </a:solidFill>
                <a:latin typeface="Helvetica Neue"/>
              </a:rPr>
              <a:t>Workers collapse on humidity.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058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90A2B4"/>
                </a:solidFill>
                <a:latin typeface="Helvetica Neue"/>
              </a:rPr>
              <a:t>ShramShield turns a weather forecast into an enforceable heat-safety shift plan for people who work outdoors: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90A2B4"/>
                </a:solidFill>
                <a:latin typeface="Helvetica Neue"/>
              </a:rPr>
              <a:t>when to start, how many minutes to work and rest each hour, how much water, and which hours must stop.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8463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2B13C"/>
                </a:solidFill>
                <a:latin typeface="Helvetica Neue"/>
              </a:rPr>
              <a:t>shramshield.vercel.app  ·  github.com/sgoel2be24-cyber/shramshield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5778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0A2B4"/>
                </a:solidFill>
                <a:latin typeface="Helvetica Neue"/>
              </a:rPr>
              <a:t>Solo entry · built in the 8-hour HACKDAY window, 20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2B13C"/>
                </a:solidFill>
                <a:latin typeface="Helvetica Neue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E9EFF5"/>
                </a:solidFill>
                <a:latin typeface="Helvetica Neue"/>
              </a:rPr>
              <a:t>Deaths are documented on days when no alert was issued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8521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E9EFF5"/>
                </a:solidFill>
                <a:latin typeface="Helvetica Neue"/>
              </a:rPr>
              <a:t>At least 84 heatstroke deaths, February–July 2025 in a news-based analysis; 7,192 suspected cases against only 14 confirmed (NCDC, via RTI).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E9EFF5"/>
                </a:solidFill>
                <a:latin typeface="Helvetica Neue"/>
              </a:rPr>
              <a:t>Most victims: elderly people, outdoor workers, daily-wage labourers — over 90% of India's workforce is informal, with no mandatory breaks or shade.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E9EFF5"/>
                </a:solidFill>
                <a:latin typeface="Helvetica Neue"/>
              </a:rPr>
              <a:t>HeatWatch's 2025 report recommends WBGT-based alerts and enforceable work-rest cycles; IMD's warnings remain dry-bulb only. A plea is pending before the Supreme Court.</a:t>
            </a:r>
          </a:p>
        </p:txBody>
      </p:sp>
      <p:sp>
        <p:nvSpPr>
          <p:cNvPr id="6" name="Rectangle 5"/>
          <p:cNvSpPr/>
          <p:nvPr/>
        </p:nvSpPr>
        <p:spPr>
          <a:xfrm>
            <a:off x="6766560" y="1828800"/>
            <a:ext cx="4846320" cy="3291840"/>
          </a:xfrm>
          <a:prstGeom prst="rect">
            <a:avLst/>
          </a:prstGeom>
          <a:solidFill>
            <a:srgbClr val="17202B"/>
          </a:solidFill>
          <a:ln>
            <a:solidFill>
              <a:srgbClr val="2230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0" y="2103120"/>
            <a:ext cx="42062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E9EFF5"/>
                </a:solidFill>
                <a:latin typeface="Helvetica Neue"/>
              </a:rPr>
              <a:t>WBGT = 0.7·Tnwb + 0.2·Tg + 0.1·Tdb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E9EFF5"/>
                </a:solidFill>
                <a:latin typeface="Helvetica Neue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E9EFF5"/>
                </a:solidFill>
                <a:latin typeface="Helvetica Neue"/>
              </a:rPr>
              <a:t>Temperature alone cannot express this. A supervisor does not need another readout — they need to know what to do with today's shift.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577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90A2B4"/>
                </a:solidFill>
                <a:latin typeface="Helvetica Neue"/>
              </a:rPr>
              <a:t>Sources: HeatWatch “Struck by Heat” (2025); The Hindu; LiveLaw (SC plea, July 2026)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2B13C"/>
                </a:solidFill>
                <a:latin typeface="Helvetica Neue"/>
              </a:rPr>
              <a:t>WHAT IT DOES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E9EFF5"/>
                </a:solidFill>
                <a:latin typeface="Helvetica Neue"/>
              </a:rPr>
              <a:t>One screen: the plan for today's shift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828800"/>
          <a:ext cx="10881359" cy="2084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64408"/>
                <a:gridCol w="7616951"/>
              </a:tblGrid>
              <a:tr h="34747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90A2B4"/>
                          </a:solidFill>
                          <a:latin typeface="Helvetica Neue"/>
                        </a:rPr>
                        <a:t>Output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90A2B4"/>
                          </a:solidFill>
                          <a:latin typeface="Helvetica Neue"/>
                        </a:rPr>
                        <a:t>Example — Delhi forecast, moderate work, acclimatised crew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9EFF5"/>
                          </a:solidFill>
                          <a:latin typeface="Helvetica Neue"/>
                        </a:rPr>
                        <a:t>Recommended shift window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9EFF5"/>
                          </a:solidFill>
                          <a:latin typeface="Helvetica Neue"/>
                        </a:rPr>
                        <a:t>05:00 – 13:00 instead of the default 09:00 rota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9EFF5"/>
                          </a:solidFill>
                          <a:latin typeface="Helvetica Neue"/>
                        </a:rPr>
                        <a:t>Minutes above the safe limit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9EFF5"/>
                          </a:solidFill>
                          <a:latin typeface="Helvetica Neue"/>
                        </a:rPr>
                        <a:t>60 min at 05:00 vs 240 min at 09:00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9EFF5"/>
                          </a:solidFill>
                          <a:latin typeface="Helvetica Neue"/>
                        </a:rPr>
                        <a:t>Work / rest per hour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9EFF5"/>
                          </a:solidFill>
                          <a:latin typeface="Helvetica Neue"/>
                        </a:rPr>
                        <a:t>53 min work / 7 min rest early → 8 min work / 52 min rest at noon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9EFF5"/>
                          </a:solidFill>
                          <a:latin typeface="Helvetica Neue"/>
                        </a:rPr>
                        <a:t>Water for the crew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9EFF5"/>
                          </a:solidFill>
                          <a:latin typeface="Helvetica Neue"/>
                        </a:rPr>
                        <a:t>litres per worker for that window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9EFF5"/>
                          </a:solidFill>
                          <a:latin typeface="Helvetica Neue"/>
                        </a:rPr>
                        <a:t>Stop-work hours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9EFF5"/>
                          </a:solidFill>
                          <a:latin typeface="Helvetica Neue"/>
                        </a:rPr>
                        <a:t>listed explicitly, e.g. 11:00, 12:00, 13:00, 14:00 for very heavy work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4937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0A2B4"/>
                </a:solidFill>
                <a:latin typeface="Helvetica Neue"/>
              </a:rPr>
              <a:t>Live forecast, or real bundled data for seven Indian cities and two archived heatwave days —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90A2B4"/>
                </a:solidFill>
                <a:latin typeface="Helvetica Neue"/>
              </a:rPr>
              <a:t>the demo works with no network and no API key at all.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2B13C"/>
                </a:solidFill>
                <a:latin typeface="Helvetica Neue"/>
              </a:rPr>
              <a:t>PROOF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E9EFF5"/>
                </a:solidFill>
                <a:latin typeface="Helvetica Neue"/>
              </a:rPr>
              <a:t>Same thermometer. Different danger.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828800"/>
          <a:ext cx="11751867" cy="10424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11526"/>
                <a:gridCol w="1741017"/>
                <a:gridCol w="1632204"/>
                <a:gridCol w="2502712"/>
                <a:gridCol w="3264408"/>
              </a:tblGrid>
              <a:tr h="34747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90A2B4"/>
                          </a:solidFill>
                          <a:latin typeface="Helvetica Neue"/>
                        </a:rPr>
                        <a:t>Real day, 20 May 2025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90A2B4"/>
                          </a:solidFill>
                          <a:latin typeface="Helvetica Neue"/>
                        </a:rPr>
                        <a:t>Peak air temp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90A2B4"/>
                          </a:solidFill>
                          <a:latin typeface="Helvetica Neue"/>
                        </a:rPr>
                        <a:t>Peak WBGT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90A2B4"/>
                          </a:solidFill>
                          <a:latin typeface="Helvetica Neue"/>
                        </a:rPr>
                        <a:t>Work permitted (moderate)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90A2B4"/>
                          </a:solidFill>
                          <a:latin typeface="Helvetica Neue"/>
                        </a:rPr>
                        <a:t>Work permitted (very heavy)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9EFF5"/>
                          </a:solidFill>
                          <a:latin typeface="Helvetica Neue"/>
                        </a:rPr>
                        <a:t>Delhi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9EFF5"/>
                          </a:solidFill>
                          <a:latin typeface="Helvetica Neue"/>
                        </a:rPr>
                        <a:t>42.6 °C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9EFF5"/>
                          </a:solidFill>
                          <a:latin typeface="Helvetica Neue"/>
                        </a:rPr>
                        <a:t>30.9 °C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9EFF5"/>
                          </a:solidFill>
                          <a:latin typeface="Helvetica Neue"/>
                        </a:rPr>
                        <a:t>897 min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9EFF5"/>
                          </a:solidFill>
                          <a:latin typeface="Helvetica Neue"/>
                        </a:rPr>
                        <a:t>310 min, 240 min stopped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9EFF5"/>
                          </a:solidFill>
                          <a:latin typeface="Helvetica Neue"/>
                        </a:rPr>
                        <a:t>Jaisalmer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9EFF5"/>
                          </a:solidFill>
                          <a:latin typeface="Helvetica Neue"/>
                        </a:rPr>
                        <a:t>42.5 °C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9EFF5"/>
                          </a:solidFill>
                          <a:latin typeface="Helvetica Neue"/>
                        </a:rPr>
                        <a:t>28.8 °C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9EFF5"/>
                          </a:solidFill>
                          <a:latin typeface="Helvetica Neue"/>
                        </a:rPr>
                        <a:t>1,167 min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9EFF5"/>
                          </a:solidFill>
                          <a:latin typeface="Helvetica Neue"/>
                        </a:rPr>
                        <a:t>447 min, no stop hours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3794760"/>
            <a:ext cx="109728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E9EFF5"/>
                </a:solidFill>
                <a:latin typeface="Helvetica Neue"/>
              </a:rPr>
              <a:t>Air temperatures within 0.1 °C. Delhi's humidity costs the same crew 270 minutes of permitted work and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E9EFF5"/>
                </a:solidFill>
                <a:latin typeface="Helvetica Neue"/>
              </a:rPr>
              <a:t>pushes very heavy work into a genuine stop-work state. No dry-bulb alert can see that.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029200"/>
            <a:ext cx="5212080" cy="1325880"/>
          </a:xfrm>
          <a:prstGeom prst="rect">
            <a:avLst/>
          </a:prstGeom>
          <a:solidFill>
            <a:srgbClr val="17202B"/>
          </a:solidFill>
          <a:ln>
            <a:solidFill>
              <a:srgbClr val="2230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193792"/>
            <a:ext cx="47548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7FD6AC"/>
                </a:solidFill>
                <a:latin typeface="Helvetica Neue"/>
              </a:rPr>
              <a:t>52/52 engine tests pass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7FD6AC"/>
                </a:solidFill>
                <a:latin typeface="Helvetica Neue"/>
              </a:rPr>
              <a:t>tsc clean · strict + noUncheckedIndexedAccess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60" y="5029200"/>
            <a:ext cx="5212080" cy="1325880"/>
          </a:xfrm>
          <a:prstGeom prst="rect">
            <a:avLst/>
          </a:prstGeom>
          <a:solidFill>
            <a:srgbClr val="17202B"/>
          </a:solidFill>
          <a:ln>
            <a:solidFill>
              <a:srgbClr val="2230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0" y="5193792"/>
            <a:ext cx="47548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7FD6AC"/>
                </a:solidFill>
                <a:latin typeface="Helvetica Neue"/>
              </a:rPr>
              <a:t>Wet bulb matches Open-Meteo's independent implementation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7FD6AC"/>
                </a:solidFill>
                <a:latin typeface="Helvetica Neue"/>
              </a:rPr>
              <a:t>0.051 °C mean / 0.170 °C worst case over 504 real hours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2B13C"/>
                </a:solidFill>
                <a:latin typeface="Helvetica Neue"/>
              </a:rPr>
              <a:t>WHY THIS IS NOT A CALCULATOR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E9EFF5"/>
                </a:solidFill>
                <a:latin typeface="Helvetica Neue"/>
              </a:rPr>
              <a:t>No instrument. No key. Our own search over the day.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4864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E9EFF5"/>
                </a:solidFill>
                <a:latin typeface="Helvetica Neue"/>
              </a:rPr>
              <a:t>Existing tools need a WBGT meter or manual site readings, or are paid hardware platforms.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E9EFF5"/>
                </a:solidFill>
                <a:latin typeface="Helvetica Neue"/>
              </a:rPr>
              <a:t>ShramShield computes WBGT from a free keyless forecast, then searches candidate start times and ranks them by minutes above the safe limit — answering “when should this crew work?”.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E9EFF5"/>
                </a:solidFill>
                <a:latin typeface="Helvetica Neue"/>
              </a:rPr>
              <a:t>The engine is hand-written and framework-free: WBGT maths, the ACGIH/ISO tables recorded verbatim, the optimiser, with tests that pin table values, physical properties and the demo narrative.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0" y="1828800"/>
            <a:ext cx="5212080" cy="1554480"/>
          </a:xfrm>
          <a:prstGeom prst="rect">
            <a:avLst/>
          </a:prstGeom>
          <a:solidFill>
            <a:srgbClr val="17202B"/>
          </a:solidFill>
          <a:ln>
            <a:solidFill>
              <a:srgbClr val="2230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75120" y="2011680"/>
            <a:ext cx="46634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E9EFF5"/>
                </a:solidFill>
                <a:latin typeface="Helvetica Neue"/>
              </a:rPr>
              <a:t>Auditable by design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E9EFF5"/>
                </a:solidFill>
                <a:latin typeface="Helvetica Neue"/>
              </a:rPr>
              <a:t>Every limit traces to a published table, and the app states what is estimated and what is not proven.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3566160"/>
            <a:ext cx="5212080" cy="1554480"/>
          </a:xfrm>
          <a:prstGeom prst="rect">
            <a:avLst/>
          </a:prstGeom>
          <a:solidFill>
            <a:srgbClr val="17202B"/>
          </a:solidFill>
          <a:ln>
            <a:solidFill>
              <a:srgbClr val="2230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3749039"/>
            <a:ext cx="46634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E9EFF5"/>
                </a:solidFill>
                <a:latin typeface="Helvetica Neue"/>
              </a:rPr>
              <a:t>Degrades honestly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E9EFF5"/>
                </a:solidFill>
                <a:latin typeface="Helvetica Neue"/>
              </a:rPr>
              <a:t>Live forecast fails → bundled real data, with a visible reason. Never a blank screen or a fake number.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2B13C"/>
                </a:solidFill>
                <a:latin typeface="Helvetica Neue"/>
              </a:rPr>
              <a:t>TRY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E9EFF5"/>
                </a:solidFill>
                <a:latin typeface="Helvetica Neue"/>
              </a:rPr>
              <a:t>Open the link, switch two controls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E9EFF5"/>
                </a:solidFill>
                <a:latin typeface="Helvetica Neue"/>
              </a:rPr>
              <a:t>1.  The default view: the verdict line — start 05:00, not 09:00.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E9EFF5"/>
                </a:solidFill>
                <a:latin typeface="Helvetica Neue"/>
              </a:rPr>
              <a:t>2.  Dataset → Delhi heatwave (May 2025) and Work rate → Very heavy work: four hours that must stop, on a real 2025 day.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E9EFF5"/>
                </a:solidFill>
                <a:latin typeface="Helvetica Neue"/>
              </a:rPr>
              <a:t>3.  “Same thermometer, different danger” — the two-city comparison.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E9EFF5"/>
                </a:solidFill>
                <a:latin typeface="Helvetica Neue"/>
              </a:rPr>
              <a:t>4.  “How this is computed, and what we have not proven” — standards, assumptions, measured evidence.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20624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2B13C"/>
                </a:solidFill>
                <a:latin typeface="Helvetica Neue"/>
              </a:rPr>
              <a:t>shramshield.vercel.app   ·   github.com/sgoel2be24-cyber/shramshield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F2B13C"/>
                </a:solidFill>
                <a:latin typeface="Helvetica Neue"/>
              </a:rPr>
              <a:t>Advisory tool. Modelled globe and wet-bulb terms, no clothing adjustment, night shift out of scope — stated in the app.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