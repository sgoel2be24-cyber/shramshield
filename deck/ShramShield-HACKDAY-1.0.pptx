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13C"/>
                </a:solidFill>
                <a:latin typeface="Helvetica Neue"/>
              </a:rPr>
              <a:t>HACKDAY 1.0 · TECH FOR A BETTER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E9EFF5"/>
                </a:solidFill>
                <a:latin typeface="Helvetica Neue"/>
              </a:rPr>
              <a:t>India's heat alerts measure temperature.</a:t>
            </a:r>
          </a:p>
          <a:p>
            <a:pPr algn="l">
              <a:spcAft>
                <a:spcPts val="600"/>
              </a:spcAft>
            </a:pPr>
            <a:r>
              <a:rPr sz="3800" b="1">
                <a:solidFill>
                  <a:srgbClr val="E9EFF5"/>
                </a:solidFill>
                <a:latin typeface="Helvetica Neue"/>
              </a:rPr>
              <a:t>Workers collapse on humidity.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0A2B4"/>
                </a:solidFill>
                <a:latin typeface="Helvetica Neue"/>
              </a:rPr>
              <a:t>ShramShield turns a weather forecast into an enforceable heat-safety shift plan for people who work outdoors: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90A2B4"/>
                </a:solidFill>
                <a:latin typeface="Helvetica Neue"/>
              </a:rPr>
              <a:t>when to start, how many minutes to work and rest each hour, how much water, and which hours must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2B13C"/>
                </a:solidFill>
                <a:latin typeface="Helvetica Neue"/>
              </a:rPr>
              <a:t>shramshield.vercel.app  ·  github.com/sgoel2be24-cyber/shramshield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0A2B4"/>
                </a:solidFill>
                <a:latin typeface="Helvetica Neue"/>
              </a:rPr>
              <a:t>Solo entry · built in the 8-hour HACKDAY window, 20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13C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FF5"/>
                </a:solidFill>
                <a:latin typeface="Helvetica Neue"/>
              </a:rPr>
              <a:t>Deaths are documented on days when no alert was issued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>At least 84 heatstroke deaths, February–July 2025 in a news-based analysis; 7,192 suspected cases against only 14 confirmed (NCDC, via RTI).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>Most victims: elderly people, outdoor workers, daily-wage labourers — over 90% of India's workforce is informal, with no mandatory breaks or shade.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>HeatWatch's 2025 report recommends WBGT-based alerts and enforceable work-rest cycles; IMD's warnings remain dry-bulb only. A plea is pending before the Supreme Court.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828800"/>
            <a:ext cx="4846320" cy="3291840"/>
          </a:xfrm>
          <a:prstGeom prst="rect">
            <a:avLst/>
          </a:prstGeom>
          <a:solidFill>
            <a:srgbClr val="17202B"/>
          </a:solidFill>
          <a:ln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>WBGT = 0.7·Tnwb + 0.2·Tg + 0.1·Tdb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>Temperature alone cannot express this. A supervisor does not need another readout — they need to know what to do with today's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0A2B4"/>
                </a:solidFill>
                <a:latin typeface="Helvetica Neue"/>
              </a:rPr>
              <a:t>Sources: HeatWatch “Struck by Heat” (2025); The Hindu; LiveLaw (SC plea, July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13C"/>
                </a:solidFill>
                <a:latin typeface="Helvetica Neue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FF5"/>
                </a:solidFill>
                <a:latin typeface="Helvetica Neue"/>
              </a:rPr>
              <a:t>One screen: the plan for today's shift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5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408"/>
                <a:gridCol w="7616951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0A2B4"/>
                          </a:solidFill>
                          <a:latin typeface="Helvetica Neue"/>
                        </a:rPr>
                        <a:t>Output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0A2B4"/>
                          </a:solidFill>
                          <a:latin typeface="Helvetica Neue"/>
                        </a:rPr>
                        <a:t>Example — Delhi forecast, moderate work, acclimatised crew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Recommended shift window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05:00 – 13:00 instead of the default 09:00 rota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Minutes above the limit (8 h window)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60 min at 05:00 vs 240 min on the 09:00 rota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Work / rest per hour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53 min work / 7 min rest early → 8 min work / 52 min rest at noon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Water for the crew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litres per worker for that window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Stop-work hours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11:00–14:00 across the day, very heavy work, real May 2025 Delhi day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Hand-off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Copy plan as text (WhatsApp-ready) · print as a one-page wall sheet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0A2B4"/>
                </a:solidFill>
                <a:latin typeface="Helvetica Neue"/>
              </a:rPr>
              <a:t>Live forecast, or real bundled data for seven Indian cities and two archived heatwave days —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0A2B4"/>
                </a:solidFill>
                <a:latin typeface="Helvetica Neue"/>
              </a:rPr>
              <a:t>the demo works with no network and no API key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13C"/>
                </a:solidFill>
                <a:latin typeface="Helvetica Neue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FF5"/>
                </a:solidFill>
                <a:latin typeface="Helvetica Neue"/>
              </a:rPr>
              <a:t>Same thermometer. Different danger.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1751867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526"/>
                <a:gridCol w="1741017"/>
                <a:gridCol w="1632204"/>
                <a:gridCol w="2502712"/>
                <a:gridCol w="3264408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0A2B4"/>
                          </a:solidFill>
                          <a:latin typeface="Helvetica Neue"/>
                        </a:rPr>
                        <a:t>Real day, 20 May 2025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0A2B4"/>
                          </a:solidFill>
                          <a:latin typeface="Helvetica Neue"/>
                        </a:rPr>
                        <a:t>Peak air temp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0A2B4"/>
                          </a:solidFill>
                          <a:latin typeface="Helvetica Neue"/>
                        </a:rPr>
                        <a:t>Peak WBGT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0A2B4"/>
                          </a:solidFill>
                          <a:latin typeface="Helvetica Neue"/>
                        </a:rPr>
                        <a:t>Work permitted (moderate)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0A2B4"/>
                          </a:solidFill>
                          <a:latin typeface="Helvetica Neue"/>
                        </a:rPr>
                        <a:t>Work permitted (very heavy)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Delhi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42.6 °C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30.9 °C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897 min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310 min, 240 min stopped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Jaisalmer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42.5 °C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28.8 °C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1,167 min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9EFF5"/>
                          </a:solidFill>
                          <a:latin typeface="Helvetica Neue"/>
                        </a:rPr>
                        <a:t>447 min, no stop hours</a:t>
                      </a:r>
                    </a:p>
                  </a:txBody>
                  <a:tcPr>
                    <a:solidFill>
                      <a:srgbClr val="1720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9476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9EFF5"/>
                </a:solidFill>
                <a:latin typeface="Helvetica Neue"/>
              </a:rPr>
              <a:t>Air temperatures within 0.1 °C. Delhi's humidity costs the same crew 270 minutes of permitted work and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9EFF5"/>
                </a:solidFill>
                <a:latin typeface="Helvetica Neue"/>
              </a:rPr>
              <a:t>pushes very heavy work into a genuine stop-work state. No dry-bulb alert can see that.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29200"/>
            <a:ext cx="5212080" cy="1325880"/>
          </a:xfrm>
          <a:prstGeom prst="rect">
            <a:avLst/>
          </a:prstGeom>
          <a:solidFill>
            <a:srgbClr val="17202B"/>
          </a:solidFill>
          <a:ln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FD6AC"/>
                </a:solidFill>
                <a:latin typeface="Helvetica Neue"/>
              </a:rPr>
              <a:t>76/76 engine tests pass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7FD6AC"/>
                </a:solidFill>
                <a:latin typeface="Helvetica Neue"/>
              </a:rPr>
              <a:t>tsc clean · strict + noUncheckedIndexedAccess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5029200"/>
            <a:ext cx="5212080" cy="1325880"/>
          </a:xfrm>
          <a:prstGeom prst="rect">
            <a:avLst/>
          </a:prstGeom>
          <a:solidFill>
            <a:srgbClr val="17202B"/>
          </a:solidFill>
          <a:ln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5193792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FD6AC"/>
                </a:solidFill>
                <a:latin typeface="Helvetica Neue"/>
              </a:rPr>
              <a:t>Wet bulb matches Open-Meteo's independent implementation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7FD6AC"/>
                </a:solidFill>
                <a:latin typeface="Helvetica Neue"/>
              </a:rPr>
              <a:t>0.051 °C mean / 0.170 °C worst case over 504 real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13C"/>
                </a:solidFill>
                <a:latin typeface="Helvetica Neue"/>
              </a:rPr>
              <a:t>WHY THIS IS NOT A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FF5"/>
                </a:solidFill>
                <a:latin typeface="Helvetica Neue"/>
              </a:rPr>
              <a:t>No instrument. No key. Our own search over the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>Existing tools need a WBGT meter or manual site readings, or are paid hardware platforms.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>ShramShield computes WBGT from a free keyless forecast, then searches candidate start times and ranks them by minutes above the safe limit — answering “when should this crew work?”.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9EFF5"/>
                </a:solidFill>
                <a:latin typeface="Helvetica Neue"/>
              </a:rPr>
              <a:t>The engine is hand-written and framework-free: WBGT maths, the ACGIH/ISO tables recorded verbatim, the optimiser, with tests that pin table values, physical properties and the demo narrative.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212080" cy="1554480"/>
          </a:xfrm>
          <a:prstGeom prst="rect">
            <a:avLst/>
          </a:prstGeom>
          <a:solidFill>
            <a:srgbClr val="17202B"/>
          </a:solidFill>
          <a:ln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FF5"/>
                </a:solidFill>
                <a:latin typeface="Helvetica Neue"/>
              </a:rPr>
              <a:t>Auditable by design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FF5"/>
                </a:solidFill>
                <a:latin typeface="Helvetica Neue"/>
              </a:rPr>
              <a:t>Every limit traces to a published table, and the app states what is estimated and what is not proven.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566160"/>
            <a:ext cx="5212080" cy="1554480"/>
          </a:xfrm>
          <a:prstGeom prst="rect">
            <a:avLst/>
          </a:prstGeom>
          <a:solidFill>
            <a:srgbClr val="17202B"/>
          </a:solidFill>
          <a:ln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749039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FF5"/>
                </a:solidFill>
                <a:latin typeface="Helvetica Neue"/>
              </a:rPr>
              <a:t>Degrades honestly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FF5"/>
                </a:solidFill>
                <a:latin typeface="Helvetica Neue"/>
              </a:rPr>
              <a:t>Live forecast fails → bundled real data, with a visible reason. Never a blank screen or a fake number.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303520"/>
            <a:ext cx="5212080" cy="1188720"/>
          </a:xfrm>
          <a:prstGeom prst="rect">
            <a:avLst/>
          </a:prstGeom>
          <a:solidFill>
            <a:srgbClr val="17202B"/>
          </a:solidFill>
          <a:ln>
            <a:solidFill>
              <a:srgbClr val="223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54406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FF5"/>
                </a:solidFill>
                <a:latin typeface="Helvetica Neue"/>
              </a:rPr>
              <a:t>Cheap to run, measured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FF5"/>
                </a:solidFill>
                <a:latin typeface="Helvetica Neue"/>
              </a:rPr>
              <a:t>95 KB in 3 requests, no server, no key, zero API calls unless a live forecast is asked for.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2B13C"/>
                </a:solidFill>
                <a:latin typeface="Helvetica Neue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FF5"/>
                </a:solidFill>
                <a:latin typeface="Helvetica Neue"/>
              </a:rPr>
              <a:t>Open the link, switch two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9EFF5"/>
                </a:solidFill>
                <a:latin typeface="Helvetica Neue"/>
              </a:rPr>
              <a:t>1.  The default view: the verdict line — start 05:00, not 09:00.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9EFF5"/>
                </a:solidFill>
                <a:latin typeface="Helvetica Neue"/>
              </a:rPr>
              <a:t>2.  Dataset → Delhi heatwave (May 2025) and Work rate → Very heavy work: the banner names the stop hours inside the shift, the timeline four across the day — a real 2025 day.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9EFF5"/>
                </a:solidFill>
                <a:latin typeface="Helvetica Neue"/>
              </a:rPr>
              <a:t>3.  “Same thermometer, different danger” — the two-city comparison.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9EFF5"/>
                </a:solidFill>
                <a:latin typeface="Helvetica Neue"/>
              </a:rPr>
              <a:t>4.  “How this is computed, and what we have not proven” — standards, assumptions, measured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B13C"/>
                </a:solidFill>
                <a:latin typeface="Helvetica Neue"/>
              </a:rPr>
              <a:t>shramshield.vercel.app   ·   github.com/sgoel2be24-cyber/shramshield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B13C"/>
                </a:solidFill>
                <a:latin typeface="Helvetica Neue"/>
              </a:rPr>
              <a:t>Advisory tool. Modelled globe and wet-bulb terms, no clothing adjustment, night shift out of scope — stated in the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